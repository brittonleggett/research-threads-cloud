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F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5" autoAdjust="0"/>
    <p:restoredTop sz="82952" autoAdjust="0"/>
  </p:normalViewPr>
  <p:slideViewPr>
    <p:cSldViewPr snapToGrid="0" snapToObjects="1">
      <p:cViewPr varScale="1">
        <p:scale>
          <a:sx n="68" d="100"/>
          <a:sy n="68" d="100"/>
        </p:scale>
        <p:origin x="1267" y="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192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Frame this as pricing communication, not trade policy. The paper asks how firms explain externally imposed costs without sounding opportunistic or political.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for urgency. Fed work estimates a 3.1% core-goods PCE price lift, and New York Fed researchers estimate most of the tariff burden landed on U.S. firms and consumers. The point: consumers feel tariffs as shelf prices.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managerial pivot. FactSet shows tariffs showed up across S&amp;P 500 earnings calls, and KPMG shows executives are planning price moves. Firms are not only absorbing costs; they are deciding how to explain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Define the four conditions. Silence offers no explanation; neutral attribution names tariff cost pressure; gain-framed mitigation shows restraint; loss-framed consequence emphasizes little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core theory: the same explanation can increase perceived fairness and trigger reactance. The contribution is the dual-pathway 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reviewers through the sequence: real corporate language, causal vignette test, then SEM validation. The design builds realism first, then causality, then construct-level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Study 1 keeps the stimuli from sounding fake. We code real messages for responsibility attribution, cost absorption, empathy, inevitability cues, and policy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Study 2 holds the price increase constant and varies only the explanation. Tariff-policy attitude is measured first so it can moderate reactions without being primed by the vignette.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Expected result: gain-framed mitigation should be safest because it combines transparency with customer protection. Loss-framed consequence is riskiest because it can sound coercive or defensive.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State the contributions quickly: price fairness in a political cost context, reactance in pricing explanations, parallel mediation, and political moderation of consumer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Managerial takeaway: do not simply blame tariffs. Acknowledge cost pressure, show what the firm absorbed or delayed, and avoid language that implies consumers have no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with the big idea: tariffs create the pricing problem, but message framing shapes the consumer reaction. Use the source line only if asked about the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23FF35-58B3-4013-83B9-2BB08DC07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534" y="0"/>
            <a:ext cx="6837217" cy="6858000"/>
          </a:xfrm>
          <a:prstGeom prst="rect">
            <a:avLst/>
          </a:prstGeom>
          <a:gradFill flip="none" rotWithShape="1">
            <a:gsLst>
              <a:gs pos="0">
                <a:srgbClr val="272F44">
                  <a:shade val="30000"/>
                  <a:satMod val="115000"/>
                </a:srgbClr>
              </a:gs>
              <a:gs pos="50000">
                <a:srgbClr val="272F44">
                  <a:shade val="67500"/>
                  <a:satMod val="115000"/>
                </a:srgbClr>
              </a:gs>
              <a:gs pos="100000">
                <a:srgbClr val="272F44">
                  <a:shade val="100000"/>
                  <a:satMod val="115000"/>
                </a:srgbClr>
              </a:gs>
            </a:gsLst>
            <a:lin ang="2700000" scaled="1"/>
            <a:tileRect/>
          </a:gradFill>
        </p:spPr>
      </p:pic>
    </p:spTree>
    <p:extLst>
      <p:ext uri="{BB962C8B-B14F-4D97-AF65-F5344CB8AC3E}">
        <p14:creationId xmlns:p14="http://schemas.microsoft.com/office/powerpoint/2010/main" val="394736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rt_dark.png"/>
          <p:cNvPicPr>
            <a:picLocks noChangeAspect="1"/>
          </p:cNvPicPr>
          <p:nvPr/>
        </p:nvPicPr>
        <p:blipFill>
          <a:blip r:embed="rId3"/>
          <a:srcRect l="3335" r="3335"/>
          <a:stretch/>
        </p:blipFill>
        <p:spPr>
          <a:xfrm>
            <a:off x="15545" y="-164592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143000"/>
            <a:ext cx="1097798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Silence, Spin, or</a:t>
            </a:r>
            <a:r>
              <a:rPr lang="en-US" sz="4000" dirty="0"/>
              <a:t> </a:t>
            </a:r>
            <a:r>
              <a:rPr lang="en-US" sz="4000" b="1" dirty="0">
                <a:solidFill>
                  <a:srgbClr val="FFFFFF"/>
                </a:solidFill>
              </a:rPr>
              <a:t>Straight Talk?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1956816"/>
            <a:ext cx="1093226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5E7EB"/>
                </a:solidFill>
              </a:rPr>
              <a:t>How tariff-related price messaging shapes fairness, reactance, and brand outcomes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95528" y="5715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chemeClr val="bg1"/>
                </a:solidFill>
              </a:rPr>
              <a:t>Britton R. Leggett</a:t>
            </a:r>
          </a:p>
          <a:p>
            <a:r>
              <a:rPr lang="en-US" sz="2000" dirty="0">
                <a:solidFill>
                  <a:schemeClr val="bg1"/>
                </a:solidFill>
              </a:rPr>
              <a:t>Assistant Professor of Marketing</a:t>
            </a:r>
          </a:p>
          <a:p>
            <a:r>
              <a:rPr lang="en-US" sz="2000" dirty="0">
                <a:solidFill>
                  <a:schemeClr val="bg1"/>
                </a:solidFill>
              </a:rPr>
              <a:t>McNeese State University</a:t>
            </a:r>
            <a:endParaRPr sz="20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FCFED0-252F-CAB8-3820-867D2BEF9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7143" y="4423943"/>
            <a:ext cx="1866643" cy="20080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</a:rPr>
              <a:t>The shelf is where trade policy becomes personal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472"/>
                </a:solidFill>
              </a:rPr>
              <a:t>Consumers rarely see customs forms; they see higher prices.</a:t>
            </a:r>
            <a:endParaRPr lang="en-US" dirty="0"/>
          </a:p>
        </p:txBody>
      </p:sp>
      <p:pic>
        <p:nvPicPr>
          <p:cNvPr id="4" name="Image 0" descr="/mnt/data/pricetag.png"/>
          <p:cNvPicPr>
            <a:picLocks noChangeAspect="1"/>
          </p:cNvPicPr>
          <p:nvPr/>
        </p:nvPicPr>
        <p:blipFill>
          <a:blip r:embed="rId3"/>
          <a:srcRect l="21901" r="21901"/>
          <a:stretch/>
        </p:blipFill>
        <p:spPr>
          <a:xfrm>
            <a:off x="548640" y="1188720"/>
            <a:ext cx="475488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356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6A3D"/>
                </a:solidFill>
              </a:rPr>
              <a:t>3.1%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669280" y="1984247"/>
            <a:ext cx="2148840" cy="133269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600" dirty="0"/>
              <a:t>Federal Reserve estimate: lift in core goods PCE prices from tariffs implemented through Nov. 2025</a:t>
            </a:r>
          </a:p>
        </p:txBody>
      </p:sp>
      <p:sp>
        <p:nvSpPr>
          <p:cNvPr id="7" name="Text 4"/>
          <p:cNvSpPr/>
          <p:nvPr/>
        </p:nvSpPr>
        <p:spPr>
          <a:xfrm>
            <a:off x="7772400" y="1325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35789"/>
                </a:solidFill>
              </a:rPr>
              <a:t>≈90%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006379" y="2421993"/>
            <a:ext cx="1417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sz="1600" dirty="0"/>
              <a:t>New York Fed estimate: tariff burden falling on U.S. firms and consumers</a:t>
            </a:r>
          </a:p>
        </p:txBody>
      </p:sp>
      <p:sp>
        <p:nvSpPr>
          <p:cNvPr id="9" name="Text 6"/>
          <p:cNvSpPr/>
          <p:nvPr/>
        </p:nvSpPr>
        <p:spPr>
          <a:xfrm>
            <a:off x="9641541" y="13476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44536"/>
                </a:solidFill>
              </a:rPr>
              <a:t>76%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9848088" y="2441448"/>
            <a:ext cx="1325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sz="1600" dirty="0"/>
              <a:t>NRF/Morning Consult: voters concerned tariffs will raise prices</a:t>
            </a:r>
          </a:p>
        </p:txBody>
      </p:sp>
      <p:sp>
        <p:nvSpPr>
          <p:cNvPr id="11" name="Shape 8"/>
          <p:cNvSpPr/>
          <p:nvPr/>
        </p:nvSpPr>
        <p:spPr>
          <a:xfrm>
            <a:off x="5715000" y="3794760"/>
            <a:ext cx="5577840" cy="1234440"/>
          </a:xfrm>
          <a:prstGeom prst="roundRect">
            <a:avLst>
              <a:gd name="adj" fmla="val 5926"/>
            </a:avLst>
          </a:prstGeom>
          <a:solidFill>
            <a:srgbClr val="FFF8ED"/>
          </a:solidFill>
          <a:ln w="12700">
            <a:solidFill>
              <a:srgbClr val="F7D58B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989320" y="40416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</a:rPr>
              <a:t>Translation for managers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89320" y="442569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</a:rPr>
              <a:t>The price increase may be unavoidable. The explanation is not.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66928" y="623620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sz="700" dirty="0">
              <a:solidFill>
                <a:srgbClr val="5F6676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4D7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566928" y="6510528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GSRBC presentation draft | Tariff-related price messaging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0881360" y="651052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Leggett</a:t>
            </a:r>
            <a:endParaRPr lang="en-US" sz="7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F0DF3CC-D4FD-95E3-59AA-E5D24631D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3217" y="5409438"/>
            <a:ext cx="950569" cy="10226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Corporate disclosures and executive surveys show tariffs are part of pricing strategy</a:t>
            </a:r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Tariffs have moved from background policy risk to front-stage pricing language.</a:t>
            </a:r>
          </a:p>
        </p:txBody>
      </p:sp>
      <p:pic>
        <p:nvPicPr>
          <p:cNvPr id="4" name="Image 0" descr="/mnt/data/boardroom.png"/>
          <p:cNvPicPr>
            <a:picLocks noChangeAspect="1"/>
          </p:cNvPicPr>
          <p:nvPr/>
        </p:nvPicPr>
        <p:blipFill>
          <a:blip r:embed="rId3"/>
          <a:srcRect l="24725" r="24725"/>
          <a:stretch/>
        </p:blipFill>
        <p:spPr>
          <a:xfrm>
            <a:off x="594360" y="1115568"/>
            <a:ext cx="420624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66360" y="1143000"/>
            <a:ext cx="63093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322580000" dist="161290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5394960" y="1508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35789"/>
                </a:solidFill>
              </a:rPr>
              <a:t>91%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733288" y="2669582"/>
            <a:ext cx="1600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dirty="0"/>
              <a:t>FactSet: S&amp;P 500 earnings calls mentioning "tariff" or "tariffs" since Mar. 15, 2025</a:t>
            </a:r>
          </a:p>
        </p:txBody>
      </p:sp>
      <p:sp>
        <p:nvSpPr>
          <p:cNvPr id="8" name="Text 5"/>
          <p:cNvSpPr/>
          <p:nvPr/>
        </p:nvSpPr>
        <p:spPr>
          <a:xfrm>
            <a:off x="7498080" y="1508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6A3D"/>
                </a:solidFill>
              </a:rPr>
              <a:t>55%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940489" y="2609398"/>
            <a:ext cx="1508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dirty="0"/>
              <a:t>KPMG: executives planning price increases up to 15% within six months</a:t>
            </a:r>
          </a:p>
        </p:txBody>
      </p:sp>
      <p:sp>
        <p:nvSpPr>
          <p:cNvPr id="10" name="Text 7"/>
          <p:cNvSpPr/>
          <p:nvPr/>
        </p:nvSpPr>
        <p:spPr>
          <a:xfrm>
            <a:off x="9464040" y="1508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44536"/>
                </a:solidFill>
              </a:rPr>
              <a:t>34%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9679741" y="2490625"/>
            <a:ext cx="1508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dirty="0"/>
              <a:t>KPMG: businesses passing on more than half of tariff costs</a:t>
            </a:r>
          </a:p>
        </p:txBody>
      </p:sp>
      <p:sp>
        <p:nvSpPr>
          <p:cNvPr id="12" name="Text 9"/>
          <p:cNvSpPr/>
          <p:nvPr/>
        </p:nvSpPr>
        <p:spPr>
          <a:xfrm>
            <a:off x="5554980" y="4325874"/>
            <a:ext cx="53949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The managerial problem is no longer whether tariffs matter. It is how to communicate price changes without losing fairness, trust, or choice.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02920" y="620344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4D7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66928" y="6510528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GSRBC presentation draft | Tariff-related price messaging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0881360" y="651052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Leggett</a:t>
            </a:r>
            <a:endParaRPr lang="en-US" sz="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ECC36F1-9EF7-3E5E-0EDA-E60617B5D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3217" y="5409438"/>
            <a:ext cx="950569" cy="10226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</a:rPr>
              <a:t>Research question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When firms raise prices under tariff-driven cost pressure, what should they tell consumers?</a:t>
            </a:r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2331720" cy="3474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6E8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545336" y="1792224"/>
            <a:ext cx="777240" cy="777240"/>
          </a:xfrm>
          <a:prstGeom prst="arc">
            <a:avLst/>
          </a:prstGeom>
          <a:noFill/>
          <a:ln w="38100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472"/>
                </a:solidFill>
              </a:rPr>
              <a:t>Silence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7552" y="3154680"/>
            <a:ext cx="1920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</a:rPr>
              <a:t>Raise prices without mentioning tariffs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611880" y="1508760"/>
            <a:ext cx="2331720" cy="3474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6E8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79976" y="1792224"/>
            <a:ext cx="777240" cy="777240"/>
          </a:xfrm>
          <a:prstGeom prst="arc">
            <a:avLst/>
          </a:prstGeom>
          <a:noFill/>
          <a:ln w="38100">
            <a:solidFill>
              <a:srgbClr val="2357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794760" y="27432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5789"/>
                </a:solidFill>
              </a:rPr>
              <a:t>Neutral attribution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94760" y="3246120"/>
            <a:ext cx="1920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</a:rPr>
              <a:t>Tariffs contributed to higher costs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469380" y="1481328"/>
            <a:ext cx="2331720" cy="3474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6E8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214616" y="1792224"/>
            <a:ext cx="777240" cy="777240"/>
          </a:xfrm>
          <a:prstGeom prst="arc">
            <a:avLst/>
          </a:prstGeom>
          <a:noFill/>
          <a:ln w="38100">
            <a:solidFill>
              <a:srgbClr val="2F8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29400" y="27432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8F6B"/>
                </a:solidFill>
              </a:rPr>
              <a:t>Gain-framed mitigation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75120" y="3305556"/>
            <a:ext cx="1920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</a:rPr>
              <a:t>We absorbed/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</a:rPr>
              <a:t>delayed/reduced the impact first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281160" y="1508760"/>
            <a:ext cx="2331720" cy="3474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6E8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0049256" y="1792224"/>
            <a:ext cx="777240" cy="777240"/>
          </a:xfrm>
          <a:prstGeom prst="arc">
            <a:avLst/>
          </a:prstGeom>
          <a:noFill/>
          <a:ln w="38100">
            <a:solidFill>
              <a:srgbClr val="C445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464040" y="27432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44536"/>
                </a:solidFill>
              </a:rPr>
              <a:t>Loss-framed consequence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509760" y="3364992"/>
            <a:ext cx="1920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</a:rPr>
              <a:t>Tariffs leave us no choice but to raise prices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97280" y="534924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A44"/>
                </a:solidFill>
              </a:rPr>
              <a:t>The twist: the same tariff explanation can feel like transparency to one consumer and politicized excuse-making to another.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" y="623620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4D7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66928" y="6510528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GSRBC presentation draft | Tariff-related price messaging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881360" y="651052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Leggett</a:t>
            </a:r>
            <a:endParaRPr lang="en-US" sz="7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0869F24-3E1B-89A8-F394-CEA3F2588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217" y="5409438"/>
            <a:ext cx="950569" cy="10226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</a:rPr>
              <a:t>Theory: one message, two psychological paths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</a:rPr>
              <a:t>A tariff explanation can restore legitimacy and trigger resistance at the same time.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 flipV="1">
            <a:off x="3340390" y="2542032"/>
            <a:ext cx="1432778" cy="655756"/>
          </a:xfrm>
          <a:prstGeom prst="line">
            <a:avLst/>
          </a:prstGeom>
          <a:noFill/>
          <a:ln w="25400">
            <a:solidFill>
              <a:srgbClr val="23578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10128" y="3536116"/>
            <a:ext cx="1463040" cy="749808"/>
          </a:xfrm>
          <a:prstGeom prst="line">
            <a:avLst/>
          </a:prstGeom>
          <a:noFill/>
          <a:ln w="25400">
            <a:solidFill>
              <a:srgbClr val="C4453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82256" y="2472363"/>
            <a:ext cx="1627632" cy="749808"/>
          </a:xfrm>
          <a:prstGeom prst="line">
            <a:avLst/>
          </a:prstGeom>
          <a:noFill/>
          <a:ln w="25400">
            <a:solidFill>
              <a:srgbClr val="23578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7333488" y="3886200"/>
            <a:ext cx="1627632" cy="521208"/>
          </a:xfrm>
          <a:prstGeom prst="line">
            <a:avLst/>
          </a:prstGeom>
          <a:noFill/>
          <a:ln w="25400">
            <a:solidFill>
              <a:srgbClr val="C4453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0085" y="2852928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F3F7FF"/>
          </a:solidFill>
          <a:ln w="12700">
            <a:solidFill>
              <a:srgbClr val="B7C7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7230" y="31546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4"/>
                </a:solidFill>
              </a:rPr>
              <a:t>Message strategy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07280" y="1947672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2FBFA"/>
          </a:solidFill>
          <a:ln w="12700">
            <a:solidFill>
              <a:srgbClr val="A9DB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0" y="2179157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8F6B"/>
                </a:solidFill>
              </a:rPr>
              <a:t>Fairness appraisal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61570" y="272970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</a:rPr>
              <a:t>“Is this legitimate?”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38862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FF1F1"/>
          </a:solidFill>
          <a:ln w="12700">
            <a:solidFill>
              <a:srgbClr val="F0B6B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49240" y="4187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44536"/>
                </a:solidFill>
              </a:rPr>
              <a:t>Reactance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38928" y="4553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</a:rPr>
              <a:t>“Are they pressuring me?”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58300" y="3008377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8ED"/>
          </a:solidFill>
          <a:ln w="12700">
            <a:solidFill>
              <a:srgbClr val="F7D58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58528" y="3387853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4"/>
                </a:solidFill>
              </a:rPr>
              <a:t>Brand outcomes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5577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26A3D"/>
                </a:solidFill>
              </a:rPr>
              <a:t>Tariff</a:t>
            </a:r>
            <a:r>
              <a:rPr lang="en-US" sz="2000" b="1" dirty="0">
                <a:solidFill>
                  <a:srgbClr val="F26A3D"/>
                </a:solidFill>
              </a:rPr>
              <a:t>-policy attitude moderates the meaning consumers attach to the explanation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623620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4D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6510528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GSRBC presentation draft | Tariff-related price messaging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881360" y="651052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Leggett</a:t>
            </a:r>
            <a:endParaRPr lang="en-US" sz="7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2FC6F4F-8A59-1C5A-5496-7C09300B5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217" y="5409438"/>
            <a:ext cx="950569" cy="10226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</a:rPr>
              <a:t>Three-study program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</a:rPr>
              <a:t>Start with real marketplace language, then test causality, then validate the model.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3154680" cy="33375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78992" y="1783080"/>
            <a:ext cx="914400" cy="310896"/>
          </a:xfrm>
          <a:prstGeom prst="roundRect">
            <a:avLst>
              <a:gd name="adj" fmla="val 20588"/>
            </a:avLst>
          </a:prstGeom>
          <a:solidFill>
            <a:srgbClr val="235789"/>
          </a:solidFill>
          <a:ln w="12700">
            <a:solidFill>
              <a:srgbClr val="2357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1851660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Study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78992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Thematic analysis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336499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</a:rPr>
              <a:t>Corporate communications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</a:rPr>
              <a:t>Customer emails • press releases • earnings calls</a:t>
            </a:r>
          </a:p>
          <a:p>
            <a:pPr marL="0" indent="0">
              <a:buNone/>
            </a:pPr>
            <a:endParaRPr lang="en-US" dirty="0">
              <a:solidFill>
                <a:srgbClr val="1A1A1A"/>
              </a:solidFill>
            </a:endParaRP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(Braun &amp; Clarke, 2006, 2019) 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26280" y="1508760"/>
            <a:ext cx="3154680" cy="33375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82312" y="1783080"/>
            <a:ext cx="914400" cy="310896"/>
          </a:xfrm>
          <a:prstGeom prst="roundRect">
            <a:avLst>
              <a:gd name="adj" fmla="val 20588"/>
            </a:avLst>
          </a:prstGeom>
          <a:solidFill>
            <a:srgbClr val="F26A3D"/>
          </a:solidFill>
          <a:ln w="12700">
            <a:solidFill>
              <a:srgbClr val="F26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851660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Study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82312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Vignette experiment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82312" y="2971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</a:rPr>
              <a:t>4-cell message strategy design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</a:rPr>
              <a:t>Target N = 300 U.S. adults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229600" y="1508760"/>
            <a:ext cx="3154680" cy="33375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85632" y="1783080"/>
            <a:ext cx="914400" cy="310896"/>
          </a:xfrm>
          <a:prstGeom prst="roundRect">
            <a:avLst>
              <a:gd name="adj" fmla="val 20588"/>
            </a:avLst>
          </a:prstGeom>
          <a:solidFill>
            <a:srgbClr val="2F8F6B"/>
          </a:solidFill>
          <a:ln w="12700">
            <a:solidFill>
              <a:srgbClr val="2F8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95360" y="1851660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Study 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485632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PLS-SEM validation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85632" y="2971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</a:rPr>
              <a:t>Independent sample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</a:rPr>
              <a:t>Parallel mediation + moderation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977640" y="3154680"/>
            <a:ext cx="530352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80960" y="3154680"/>
            <a:ext cx="530352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17320" y="544068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A44"/>
                </a:solidFill>
              </a:rPr>
              <a:t>Sequential logic: ecological validity → causal inference → construct-level evidence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" y="623620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4D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6510528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GSRBC presentation draft | Tariff-related price messaging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881360" y="651052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Leggett</a:t>
            </a:r>
            <a:endParaRPr lang="en-US" sz="7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A092D97-96F7-7D93-E13B-871F79567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217" y="5409438"/>
            <a:ext cx="950569" cy="10226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</a:rPr>
              <a:t>Study 1: Build stimuli from real corporate talk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</a:rPr>
              <a:t>The goal is not just classification; it is stimulus realism.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2926080" cy="4389120"/>
          </a:xfrm>
          <a:prstGeom prst="roundRect">
            <a:avLst>
              <a:gd name="adj" fmla="val 2500"/>
            </a:avLst>
          </a:prstGeom>
          <a:solidFill>
            <a:srgbClr val="F3F7FF"/>
          </a:solidFill>
          <a:ln w="12700">
            <a:solidFill>
              <a:srgbClr val="B7C7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600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Corpus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Customer emails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Retail announcements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Press releases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Corporate blogs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Earnings-call excerpts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617720" y="1234440"/>
            <a:ext cx="2926080" cy="4389120"/>
          </a:xfrm>
          <a:prstGeom prst="roundRect">
            <a:avLst>
              <a:gd name="adj" fmla="val 2500"/>
            </a:avLst>
          </a:prstGeom>
          <a:solidFill>
            <a:srgbClr val="FFF8ED"/>
          </a:solidFill>
          <a:ln w="12700">
            <a:solidFill>
              <a:srgbClr val="F7D58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600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Coding targets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214884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Responsibility attribution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Cost absorption language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Customer empathy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Inevitability cues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Policy references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458200" y="1234440"/>
            <a:ext cx="2926080" cy="4389120"/>
          </a:xfrm>
          <a:prstGeom prst="roundRect">
            <a:avLst>
              <a:gd name="adj" fmla="val 2500"/>
            </a:avLst>
          </a:prstGeom>
          <a:solidFill>
            <a:srgbClr val="F2FBFA"/>
          </a:solidFill>
          <a:ln w="12700">
            <a:solidFill>
              <a:srgbClr val="A9DB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32520" y="1600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Output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4884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Message typology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Realistic language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Experimental vignettes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Cleaner manipulation checks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6928" y="623620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4D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6510528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GSRBC presentation draft | Tariff-related price messaging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881360" y="651052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Leggett</a:t>
            </a:r>
            <a:endParaRPr lang="en-US" sz="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35C433-CBE9-5DF4-31DC-F643D9F09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217" y="5409438"/>
            <a:ext cx="950569" cy="10226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</a:rPr>
              <a:t>Study 2: The causal 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</a:rPr>
              <a:t>Hold the price increase constant; vary only the explanation</a:t>
            </a:r>
            <a:r>
              <a:rPr lang="en-US" sz="1150" dirty="0">
                <a:solidFill>
                  <a:srgbClr val="5B6472"/>
                </a:solidFill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971800" cy="420624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Before stimulus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Measure tariff-policy attitude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Reduce demand effects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Random assignment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49140" y="1280160"/>
            <a:ext cx="2971800" cy="420624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Stimulus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92040" y="219456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Tariff-exposed product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8–12% price increase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Four message conditions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503920" y="1280160"/>
            <a:ext cx="2971800" cy="420624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7824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Outcomes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778240" y="21945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Perceived fairness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Psychological reactance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Trust, attitude, purchase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</a:rPr>
              <a:t>Switching + negative WOM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5715000"/>
            <a:ext cx="9966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6A3D"/>
                </a:solidFill>
              </a:rPr>
              <a:t>Design: four-cell between-subjects vignette experiment, target N = 300 on Prolific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6928" y="623620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4D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6510528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GSRBC presentation draft | Tariff-related price messaging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881360" y="651052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Leggett</a:t>
            </a:r>
            <a:endParaRPr lang="en-US" sz="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89A5935-DFA3-3F9C-3E45-8438C8AA7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217" y="5409438"/>
            <a:ext cx="950569" cy="10226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</a:rPr>
              <a:t>Expected pattern: transparency is not automatically good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</a:rPr>
              <a:t>The dominant strategy should combine explanation with customer protection.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515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</a:rPr>
              <a:t>Message strategy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</a:rPr>
              <a:t>Fairness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2648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</a:rPr>
              <a:t>Reactance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</a:rPr>
              <a:t>Net brand effect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10698480" cy="566928"/>
          </a:xfrm>
          <a:prstGeom prst="roundRect">
            <a:avLst>
              <a:gd name="adj" fmla="val 4839"/>
            </a:avLst>
          </a:prstGeom>
          <a:solidFill>
            <a:srgbClr val="F7F8FA"/>
          </a:solidFill>
          <a:ln w="762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960120" y="20208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</a:rPr>
              <a:t>Silence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20208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6A3D"/>
                </a:solidFill>
              </a:rPr>
              <a:t>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6480" y="20208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6A3D"/>
                </a:solidFill>
              </a:rPr>
              <a:t>Low–mod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0" y="20208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6A3D"/>
                </a:solidFill>
              </a:rPr>
              <a:t>Weak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2679192"/>
            <a:ext cx="1069848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960120" y="28254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</a:rPr>
              <a:t>Neutral attribution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2825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6A3D"/>
                </a:solidFill>
              </a:rPr>
              <a:t>Moderate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2825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6A3D"/>
                </a:solidFill>
              </a:rPr>
              <a:t>Moderate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0" y="2825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6A3D"/>
                </a:solidFill>
              </a:rPr>
              <a:t>Mixed +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3483864"/>
            <a:ext cx="10698480" cy="566928"/>
          </a:xfrm>
          <a:prstGeom prst="roundRect">
            <a:avLst>
              <a:gd name="adj" fmla="val 4839"/>
            </a:avLst>
          </a:prstGeom>
          <a:solidFill>
            <a:srgbClr val="F7F8FA"/>
          </a:solidFill>
          <a:ln w="762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960120" y="36301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</a:rPr>
              <a:t>Gain mitigation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0" y="3630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4536"/>
                </a:solidFill>
              </a:rPr>
              <a:t>Highest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0" y="3630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F6B"/>
                </a:solidFill>
              </a:rPr>
              <a:t>Lowest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95360" y="3630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F6B"/>
                </a:solidFill>
              </a:rPr>
              <a:t>Strongest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4288536"/>
            <a:ext cx="1069848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960120" y="44348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</a:rPr>
              <a:t>Loss consequence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57600" y="4434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6A3D"/>
                </a:solidFill>
              </a:rPr>
              <a:t>Conditional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26480" y="4434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4536"/>
                </a:solidFill>
              </a:rPr>
              <a:t>Highest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95360" y="4434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4536"/>
                </a:solidFill>
              </a:rPr>
              <a:t>Riskiest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0120" y="5349240"/>
            <a:ext cx="10241280" cy="658368"/>
          </a:xfrm>
          <a:prstGeom prst="roundRect">
            <a:avLst>
              <a:gd name="adj" fmla="val 11111"/>
            </a:avLst>
          </a:prstGeom>
          <a:solidFill>
            <a:srgbClr val="FFF8ED"/>
          </a:solidFill>
          <a:ln w="12700">
            <a:solidFill>
              <a:srgbClr val="F7D58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1207008" y="5532120"/>
            <a:ext cx="9738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</a:rPr>
              <a:t>Managerial hypothesis: “We tried to protect you first” beats “policy leaves us no choice.”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6928" y="623620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findings based on proposed fairness and reactance pathways.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4D7D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90D3465-C100-E036-CBBE-0B354BE60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217" y="5409438"/>
            <a:ext cx="950569" cy="10226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</a:rPr>
              <a:t>Why this paper contributes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472"/>
                </a:solidFill>
              </a:rPr>
              <a:t>Tar</a:t>
            </a:r>
            <a:r>
              <a:rPr lang="en-US" sz="1600" dirty="0">
                <a:solidFill>
                  <a:srgbClr val="5B6472"/>
                </a:solidFill>
              </a:rPr>
              <a:t>iffs create a boundary condition where economic attribution becomes political meaning</a:t>
            </a:r>
            <a:r>
              <a:rPr lang="en-US" sz="1150" dirty="0">
                <a:solidFill>
                  <a:srgbClr val="5B6472"/>
                </a:solidFill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1051560" y="1673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235789"/>
          </a:solidFill>
          <a:ln w="12700">
            <a:solidFill>
              <a:srgbClr val="23578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161288" y="174193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728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Dual entitlement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21854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Extends price fairness into politically contested cost shocks.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0" name="Shape 8"/>
          <p:cNvSpPr/>
          <p:nvPr/>
        </p:nvSpPr>
        <p:spPr>
          <a:xfrm>
            <a:off x="1051560" y="3959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1161288" y="402793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4014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Reactance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44714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Shows how price explanations can threaten perceived freedom.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5" name="Shape 13"/>
          <p:cNvSpPr/>
          <p:nvPr/>
        </p:nvSpPr>
        <p:spPr>
          <a:xfrm>
            <a:off x="6629400" y="1673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F26A3D"/>
          </a:solidFill>
          <a:ln w="12700">
            <a:solidFill>
              <a:srgbClr val="F26A3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6739128" y="174193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78040" y="1728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Dual pathway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78040" y="21854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Models fairness restoration and resistance as parallel processes.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0" y="370332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0" name="Shape 18"/>
          <p:cNvSpPr/>
          <p:nvPr/>
        </p:nvSpPr>
        <p:spPr>
          <a:xfrm>
            <a:off x="6629400" y="3959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2F8F6B"/>
          </a:solidFill>
          <a:ln w="12700">
            <a:solidFill>
              <a:srgbClr val="2F8F6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6739128" y="402793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4014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Brand polarization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78040" y="44714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Moves beyond voluntary activism to involuntary policy responses.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66928" y="623620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4D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6510528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GSRBC presentation draft | Tariff-related price messaging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881360" y="651052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Leggett</a:t>
            </a:r>
            <a:endParaRPr lang="en-US" sz="7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E9DEBBC-7F29-5ACE-1648-E2166F198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217" y="5409438"/>
            <a:ext cx="950569" cy="10226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</a:rPr>
              <a:t>Managerial takeaway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Do not just blame tariffs. Show restraint. Preserve consumer choice.</a:t>
            </a:r>
          </a:p>
        </p:txBody>
      </p:sp>
      <p:pic>
        <p:nvPicPr>
          <p:cNvPr id="4" name="Image 0" descr="/mnt/data/pricetag.png"/>
          <p:cNvPicPr>
            <a:picLocks noChangeAspect="1"/>
          </p:cNvPicPr>
          <p:nvPr/>
        </p:nvPicPr>
        <p:blipFill>
          <a:blip r:embed="rId3"/>
          <a:srcRect l="31720" r="31720"/>
          <a:stretch/>
        </p:blipFill>
        <p:spPr>
          <a:xfrm>
            <a:off x="640080" y="1143000"/>
            <a:ext cx="338328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0" y="1234440"/>
            <a:ext cx="6720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4892040" y="14173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44"/>
                </a:solidFill>
              </a:rPr>
              <a:t>Acknowledge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00800" y="13990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</a:rPr>
              <a:t>Name the cost pressure without sounding defensive.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572000" y="2286000"/>
            <a:ext cx="6720840" cy="713232"/>
          </a:xfrm>
          <a:prstGeom prst="roundRect">
            <a:avLst>
              <a:gd name="adj" fmla="val 10256"/>
            </a:avLst>
          </a:prstGeom>
          <a:solidFill>
            <a:srgbClr val="F2FBFA"/>
          </a:solidFill>
          <a:ln w="12700">
            <a:solidFill>
              <a:srgbClr val="A9DB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4892040" y="2468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44"/>
                </a:solidFill>
              </a:rPr>
              <a:t>Absorb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400800" y="2450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</a:rPr>
              <a:t>Show what the firm did before passing along the increase.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572000" y="3337560"/>
            <a:ext cx="6720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4892040" y="35204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44"/>
                </a:solidFill>
              </a:rPr>
              <a:t>Empathize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400800" y="35021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</a:rPr>
              <a:t>Frame the message around customer impact.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572000" y="4389120"/>
            <a:ext cx="6720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4892040" y="45720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44536"/>
                </a:solidFill>
              </a:rPr>
              <a:t>Avoid coercion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400800" y="45537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</a:rPr>
              <a:t>Skip “no choice,” “forced,” and partisan blame cues.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754880" y="5559552"/>
            <a:ext cx="6172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6A3D"/>
                </a:solidFill>
              </a:rPr>
              <a:t>Best message logic: “Costs went up, but we worked to reduce the hit before making this change.”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566928" y="623620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4D7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566928" y="6510528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GSRBC presentation draft | Tariff-related price messaging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0881360" y="651052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Leggett</a:t>
            </a:r>
            <a:endParaRPr lang="en-US" sz="7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A15D166-7FC5-6756-6909-23784BB6B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3217" y="5409438"/>
            <a:ext cx="950569" cy="10226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B134"/>
                </a:solidFill>
              </a:rPr>
              <a:t>The story in one sentence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Tariffs create a pricing problem, but the consumer reaction is a communication problem.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2852928"/>
            <a:ext cx="10515600" cy="0"/>
          </a:xfrm>
          <a:prstGeom prst="line">
            <a:avLst/>
          </a:prstGeom>
          <a:noFill/>
          <a:ln w="38100">
            <a:solidFill>
              <a:srgbClr val="F26A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E7EB"/>
                </a:solidFill>
              </a:rPr>
              <a:t>Question for the audience: when policy becomes embedded in price, does transparency build trust — or trigger resistance?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4B0423-ECE7-82B6-D193-E26AA3BAE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217" y="5409438"/>
            <a:ext cx="950569" cy="10226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B8CC01-32DA-4AB0-84C2-FCF83BE2425C}"/>
              </a:ext>
            </a:extLst>
          </p:cNvPr>
          <p:cNvSpPr txBox="1"/>
          <p:nvPr/>
        </p:nvSpPr>
        <p:spPr>
          <a:xfrm>
            <a:off x="1948543" y="141514"/>
            <a:ext cx="8926286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SELECTED REFERENCES </a:t>
            </a:r>
            <a:endParaRPr lang="en-US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Amiti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M., Flanagan, C.,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Heise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S., &amp; Weinstein, D. E. (2026, February 12). Who is paying for the 2025 U.S. tariffs? Federal Reserve Bank of New York Liberty Street Economics. https://doi.org/10.59576/lse.20260212 </a:t>
            </a:r>
          </a:p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Braun, V., &amp; Clarke, V. (2006). Using thematic analysis in psychology. Qualitative Research in Psychology, 3(2), 77-101. </a:t>
            </a:r>
          </a:p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Braun, V., &amp; Clarke, V. (2019). Reflecting on reflexive thematic analysis. Qualitative Research in Sport, Exercise and Health, 11(4), 589-597. </a:t>
            </a:r>
          </a:p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Brehm, J. W. (1966). A theory of psychological reactance. Academic Press. </a:t>
            </a:r>
          </a:p>
          <a:p>
            <a:r>
              <a:rPr lang="en-US" sz="1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Eyster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E.,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Madarasz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K., &amp;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Michaillat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P. (2021). Pricing under fairness concerns. Journal of the European Economic Association, 19(3), 1853-1898. </a:t>
            </a:r>
          </a:p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Haupt, M.,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Wannow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S., Marquardt, L.,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Graubner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J. S., &amp; Haas, A. (2023). Who is more responsive to brand activism? Journal of Product &amp; Brand Management, 32(8), 1248-1273. </a:t>
            </a:r>
          </a:p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Hayes, A. F. (2022). Introduction to mediation, moderation, and conditional process analysis: A regression-based approach (3rd ed.). Guilford Press. </a:t>
            </a:r>
          </a:p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Kahneman, D.,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Knetsch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J. L., &amp; Thaler, R. H. (1986). Fairness as a constraint on profit seeking: Entitlements in the market. American Economic Review, 76(4), 728-741. </a:t>
            </a:r>
          </a:p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Kahneman, D., &amp; Tversky, A. (1979). Prospect theory: An analysis of decision under risk.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Econometrica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47(2), 263-291. </a:t>
            </a:r>
          </a:p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Minton, R., Ray, M., &amp;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Somale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M. (2026, April 8). Detecting tariff effects on consumer prices in real time - Part II. FEDS Notes. Board of Governors of the Federal Reserve System. https://doi.org/10.17016/2380-7172.4040 </a:t>
            </a:r>
          </a:p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Morning Consult. (2025, April 3). Tariffs, consumer spending, and what comes next. Morning Consult Pro. </a:t>
            </a:r>
          </a:p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Rawal, M., Kar, S., &amp;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Bhaduri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G. (2026). Gain vs. loss framing in rational and emotional appeals. Marketing Management Journal. </a:t>
            </a:r>
          </a:p>
          <a:p>
            <a:r>
              <a:rPr lang="de-DE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Steindl, C., Jonas, E., Sittenthaler, S., Traut-Mattausch, E., &amp; Greenberg, J. (2015). Understanding psychological reactance. Zeitschrift fuer Psychologie, 223(4), 205-214. </a:t>
            </a:r>
          </a:p>
          <a:p>
            <a:r>
              <a:rPr lang="en-US" sz="1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Tarrahi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F.,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Eisend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M., &amp; Dost, F. (2016). A meta-analysis of price change fairness perceptions. International Journal of Research in Marketing, 33(1), 199-212. </a:t>
            </a:r>
          </a:p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Villagra, N., Clemente-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Mediavilla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J., Lopez-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Oza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C., &amp; Sanchez-Herrera, J. (2021). When polarization hits corporations. El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Profesional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la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Informacion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59258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1778</Words>
  <Application>Microsoft Office PowerPoint</Application>
  <PresentationFormat>Widescreen</PresentationFormat>
  <Paragraphs>209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McNeese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Silence, Spin, or Straight Talk?</dc:title>
  <dc:subject>Tariff-related price messaging presentation</dc:subject>
  <dc:creator>OpenAI</dc:creator>
  <cp:lastModifiedBy>Kenneth O'Connor</cp:lastModifiedBy>
  <cp:revision>8</cp:revision>
  <dcterms:created xsi:type="dcterms:W3CDTF">2026-06-25T01:08:34Z</dcterms:created>
  <dcterms:modified xsi:type="dcterms:W3CDTF">2026-06-26T22:21:47Z</dcterms:modified>
</cp:coreProperties>
</file>